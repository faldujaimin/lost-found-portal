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  <p:sldId id="258" r:id="rId3"/>
    <p:sldId id="259" r:id="rId4"/>
    <p:sldId id="260" r:id="rId5"/>
    <p:sldId id="261" r:id="rId6"/>
    <p:sldId id="275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469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C5455C8A-6E92-477C-BB97-DFE6CA4E9C01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D3A04797-96E7-4BE6-BB7E-C8FA4F7CA74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C5455C8A-6E92-477C-BB97-DFE6CA4E9C01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D3A04797-96E7-4BE6-BB7E-C8FA4F7CA74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C5455C8A-6E92-477C-BB97-DFE6CA4E9C01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D3A04797-96E7-4BE6-BB7E-C8FA4F7CA74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55C8A-6E92-477C-BB97-DFE6CA4E9C01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04797-96E7-4BE6-BB7E-C8FA4F7CA74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55C8A-6E92-477C-BB97-DFE6CA4E9C01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04797-96E7-4BE6-BB7E-C8FA4F7CA74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C5455C8A-6E92-477C-BB97-DFE6CA4E9C01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D3A04797-96E7-4BE6-BB7E-C8FA4F7CA74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55C8A-6E92-477C-BB97-DFE6CA4E9C01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04797-96E7-4BE6-BB7E-C8FA4F7CA7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C5455C8A-6E92-477C-BB97-DFE6CA4E9C01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D3A04797-96E7-4BE6-BB7E-C8FA4F7CA74D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C5455C8A-6E92-477C-BB97-DFE6CA4E9C01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D3A04797-96E7-4BE6-BB7E-C8FA4F7CA74D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55C8A-6E92-477C-BB97-DFE6CA4E9C01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04797-96E7-4BE6-BB7E-C8FA4F7CA7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55C8A-6E92-477C-BB97-DFE6CA4E9C01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04797-96E7-4BE6-BB7E-C8FA4F7CA7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C5455C8A-6E92-477C-BB97-DFE6CA4E9C01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3A04797-96E7-4BE6-BB7E-C8FA4F7CA74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Lost and found portal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is a full-featured web application built for an 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educational institution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(college/university). It provides a centralized, digital platform for students to report and find lost or found items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replacing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informal, paper-based processes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Scale: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3,445 lines of Python (Flask), 30+ HTML templates, advanced AI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integration,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multilingual support, and a full admin control center.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752600" y="746760"/>
          <a:ext cx="6096000" cy="611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2946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layer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technology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latin typeface="Times New Roman" pitchFamily="18" charset="0"/>
                          <a:cs typeface="Times New Roman" pitchFamily="18" charset="0"/>
                        </a:rPr>
                        <a:t>Backend</a:t>
                      </a:r>
                      <a:endParaRPr lang="en-US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Python 3.10, Flask 2.3.3</a:t>
                      </a:r>
                      <a:endParaRPr lang="en-US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latin typeface="Times New Roman" pitchFamily="18" charset="0"/>
                          <a:cs typeface="Times New Roman" pitchFamily="18" charset="0"/>
                        </a:rPr>
                        <a:t>ORM/database</a:t>
                      </a:r>
                      <a:endParaRPr lang="en-US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600" b="0" i="0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Flask-SQLAlchemy, SQLite (dev) / PostgreSQL (prod)</a:t>
                      </a:r>
                      <a:endParaRPr lang="en-US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latin typeface="Times New Roman" pitchFamily="18" charset="0"/>
                          <a:cs typeface="Times New Roman" pitchFamily="18" charset="0"/>
                        </a:rPr>
                        <a:t>authentication</a:t>
                      </a:r>
                      <a:endParaRPr lang="en-US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Flask-Login, </a:t>
                      </a:r>
                      <a:r>
                        <a:rPr lang="en-US" sz="1600" b="0" i="0" kern="1200" dirty="0" err="1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Passlib</a:t>
                      </a: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(Argon2 + PBKDF2 hashing)</a:t>
                      </a:r>
                      <a:endParaRPr lang="en-US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latin typeface="Times New Roman" pitchFamily="18" charset="0"/>
                          <a:cs typeface="Times New Roman" pitchFamily="18" charset="0"/>
                        </a:rPr>
                        <a:t>Forms and validation</a:t>
                      </a:r>
                      <a:endParaRPr lang="en-US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Flask-WTF, </a:t>
                      </a:r>
                      <a:r>
                        <a:rPr lang="en-US" sz="1600" b="0" i="0" kern="1200" dirty="0" err="1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WTForms</a:t>
                      </a:r>
                      <a:endParaRPr lang="en-US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AI — Object Detection</a:t>
                      </a:r>
                      <a:endParaRPr lang="en-US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YOLOv8 (</a:t>
                      </a:r>
                      <a:r>
                        <a:rPr lang="en-US" sz="1600" b="0" i="0" kern="1200" dirty="0" err="1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Ultralytics</a:t>
                      </a: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), Faster-RCNN (</a:t>
                      </a:r>
                      <a:r>
                        <a:rPr lang="en-US" sz="1600" b="0" i="0" kern="1200" dirty="0" err="1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torchvision</a:t>
                      </a: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)</a:t>
                      </a:r>
                      <a:endParaRPr lang="en-US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AI — Image-Text Match</a:t>
                      </a:r>
                      <a:endParaRPr lang="en-US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err="1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OpenAI</a:t>
                      </a: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CLIP (via </a:t>
                      </a:r>
                      <a:r>
                        <a:rPr lang="en-US" sz="1600" b="0" i="0" kern="1200" dirty="0" err="1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HuggingFace</a:t>
                      </a: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Transformers)</a:t>
                      </a:r>
                      <a:endParaRPr lang="en-US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AI — OCR</a:t>
                      </a:r>
                      <a:endParaRPr lang="en-US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err="1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EasyOCR</a:t>
                      </a: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(</a:t>
                      </a:r>
                      <a:r>
                        <a:rPr lang="en-US" sz="1600" b="1" i="0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Optical Character Recognition</a:t>
                      </a: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)</a:t>
                      </a:r>
                      <a:endParaRPr lang="en-US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Frontend</a:t>
                      </a:r>
                      <a:endParaRPr lang="en-US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Jinja2 HTML Templates, Bootstrap/Custom CSS, JS</a:t>
                      </a:r>
                      <a:endParaRPr lang="en-US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PDF/CSV Export</a:t>
                      </a:r>
                      <a:endParaRPr lang="en-US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err="1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ReportLab</a:t>
                      </a: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, Pandas</a:t>
                      </a:r>
                      <a:endParaRPr lang="en-US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latin typeface="Times New Roman" pitchFamily="18" charset="0"/>
                          <a:cs typeface="Times New Roman" pitchFamily="18" charset="0"/>
                        </a:rPr>
                        <a:t>Multilanguage </a:t>
                      </a:r>
                      <a:endParaRPr lang="en-US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lask-Babel (English, Hindi, Gujarati)</a:t>
                      </a:r>
                      <a:endParaRPr lang="en-US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Production Server</a:t>
                      </a:r>
                      <a:endParaRPr lang="en-US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Gunicorn</a:t>
                      </a:r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+ Nginx (deployment-ready)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581400" y="0"/>
            <a:ext cx="209621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Tech Stack</a:t>
            </a:r>
          </a:p>
          <a:p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838200" y="381000"/>
          <a:ext cx="6096000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457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Role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access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Student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Register, Login, Report Lost/Found, View Items, Chat, Profile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Admin/HOD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All 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student access + soft-delete items, admin dashboard, analytics, user management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38613" y="2514600"/>
            <a:ext cx="8905387" cy="3508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Core Features (Detailed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Authentication &amp; Security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Registration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with unique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Registration Number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(student ID), full name, optional email/phone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Argon2 password hashing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(industry-standard, GDPR-compliant)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Role-based access control (RBAC)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— students,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admins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HODs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Session management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via Flask-Login</a:t>
            </a:r>
          </a:p>
          <a:p>
            <a:pPr font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Auth logging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— every login/logout tracked in </a:t>
            </a: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AuthLog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table with IP address and timestamp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Input validation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(client-side + server-side) — prevents SQL injection, XSS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Secure file uploads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— extension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whitelist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/jpg/jpeg/gif), filename sanitization, 2MB limit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Item reporting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410200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Report Lost Item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Fields: Item Name, Description, Date Lost, Location Lost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Auto-links to the logged-in student's account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Timestamp auto-captured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On submission → smart match search runs automatically (finds potential found-item matches)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Report Found Item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Fields: Item Name, Description, Date Found, Location Found, Image Upload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AI-powered image verification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runs before submission (see AI section)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If the reported item name matches a PROTECTED keyword (phone, laptop, wallet, etc.), extra verification is required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Image preview shown in browser before upload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663" y="184150"/>
            <a:ext cx="8702675" cy="649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85725"/>
            <a:ext cx="8534400" cy="669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AI Features (The Standout Innovation)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A. CLIP — Zero-Shot Image-Text Matching (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OpenAI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Compares the uploaded image against the claimed item name using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semantic similarity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Example: User says "Samsung Phone" → CLIP checks if the image visually matches a phone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Threshold: 0.22 confidence score minimum (configurable)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Returns: match result, best matching label, and confidence score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B.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EasyOCR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— Text Extraction from Images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Reads text visible in photos (brand names, college ID text, book titles, etc.)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Used to 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auto-suggest item names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from ID cards, books, phone screens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Supports English (extensible to Hindi, Marathi, Tamil, etc.)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YOLOv8 — Real-Time Object Detection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Uses the 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YOLOv8n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model 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pretrained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80 COCO categories)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Detects objects in the uploaded image with bounding boxes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Confidence threshold: 0.3 (relaxed for small/cropped photos)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Filters out person class to reduce false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positives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font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Cross-Verification Engine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cross_verify_item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Combines all three AI signals (OCR + YOLO + CLIP) into a single confidence score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Only items failing 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all three checks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are rejected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Lenient mode for general items, strict mode for high-value/protected items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Prints detailed debug output for diagnostics</a:t>
            </a:r>
          </a:p>
          <a:p>
            <a:pPr fontAlgn="ctr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font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E. AI Smart Matching (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find_smart_matches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When a Lost item is reported, it searches all Found items for likely matches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Scoring is based on: name similarity, description keywords, location, date proximity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Sends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automatic notifications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to the reporter if a match is found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F. Live Image Analysis API (/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api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analyze_image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Runs YOLO → then CLIP → returns best detected object label and confidence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Used on the report form for real-time feedback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before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form submission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Auto-fills the item name field based on what AI detects in the photo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25763" y="984250"/>
            <a:ext cx="3292475" cy="489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33400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Admin dashboard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&amp; Analytics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229600" cy="54864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3400" b="1" dirty="0">
                <a:latin typeface="Times New Roman" pitchFamily="18" charset="0"/>
                <a:cs typeface="Times New Roman" pitchFamily="18" charset="0"/>
              </a:rPr>
              <a:t>Admin Dashboard (/admin)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Full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user management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table — view all registered users, their roles, activity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Change user roles (student ↔ admin ↔ HOD)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View all items (active + deleted)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Soft-delete items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with confirmation — item is archived (not permanently deleted)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View detailed info about any user: items reported, messages, activity history</a:t>
            </a:r>
          </a:p>
          <a:p>
            <a:pPr>
              <a:buNone/>
            </a:pPr>
            <a:r>
              <a:rPr lang="en-US" sz="3400" b="1" dirty="0">
                <a:latin typeface="Times New Roman" pitchFamily="18" charset="0"/>
                <a:cs typeface="Times New Roman" pitchFamily="18" charset="0"/>
              </a:rPr>
              <a:t>Analytics Dashboard (/analytics)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Daily analytics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auto-generated: items reported per day (lost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found)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Charts: items over time, popular locations, popular item types, peak hours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30-day summary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view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Accessible to Admin/HOD only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4000" y="298450"/>
            <a:ext cx="8634413" cy="626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Secure Chat / Message System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Per-item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chat thread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— users can message each other about a specific item</a:t>
            </a:r>
          </a:p>
          <a:p>
            <a:pPr font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Messages stored in 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Message model with sender ID, item ID, and timestamp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Form-based (no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WebSockets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needed), rendered on Item Detail page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Real-time notifications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when a message is received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Notification System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Notification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model stores user-specific alerts</a:t>
            </a:r>
          </a:p>
          <a:p>
            <a:pPr font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Notification types: </a:t>
            </a:r>
          </a:p>
          <a:p>
            <a:pPr font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info, success, warning, 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error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Optional link to redirect the user to the relevant item/page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Notification bell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in the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navbar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(base.html) with live unread count polling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/notifications page lists all alerts; /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api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/notifications/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unread_count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for AJAX polling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User Profile &amp;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Gamification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Profile page</a:t>
            </a:r>
            <a:r>
              <a:rPr lang="en-US" dirty="0"/>
              <a:t> — view/edit personal info, upload profile photo</a:t>
            </a:r>
          </a:p>
          <a:p>
            <a:r>
              <a:rPr lang="en-US" b="1" dirty="0"/>
              <a:t>Privacy settings</a:t>
            </a:r>
            <a:r>
              <a:rPr lang="en-US" dirty="0"/>
              <a:t> — GDPR-compliant data masking for email/phone</a:t>
            </a:r>
          </a:p>
          <a:p>
            <a:r>
              <a:rPr lang="en-US" b="1" dirty="0"/>
              <a:t>GDPR data export</a:t>
            </a:r>
            <a:r>
              <a:rPr lang="en-US" dirty="0"/>
              <a:t> — user can download all their data as JSON (/</a:t>
            </a:r>
            <a:r>
              <a:rPr lang="en-US" dirty="0" err="1"/>
              <a:t>export_my_data</a:t>
            </a:r>
            <a:r>
              <a:rPr lang="en-US" dirty="0"/>
              <a:t>)</a:t>
            </a:r>
          </a:p>
          <a:p>
            <a:r>
              <a:rPr lang="en-US" b="1" dirty="0"/>
              <a:t>Levels &amp; XP system</a:t>
            </a:r>
            <a:r>
              <a:rPr lang="en-US" dirty="0"/>
              <a:t> — users earn points for reporting items; levels updated on each action</a:t>
            </a:r>
          </a:p>
          <a:p>
            <a:r>
              <a:rPr lang="en-US" b="1" dirty="0" err="1"/>
              <a:t>Leaderboard</a:t>
            </a:r>
            <a:r>
              <a:rPr lang="en-US" dirty="0"/>
              <a:t> — top contributors ranked by XP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Multilingual Support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Flask-Babel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integration with ”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gettext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and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lazy_gettext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”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Supported languages: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English, Hindi (</a:t>
            </a:r>
            <a:r>
              <a:rPr lang="hi-IN" b="1" dirty="0">
                <a:latin typeface="Times New Roman" pitchFamily="18" charset="0"/>
              </a:rPr>
              <a:t>हिंदी), </a:t>
            </a:r>
            <a:endParaRPr lang="en-US" b="1" dirty="0" smtClean="0">
              <a:latin typeface="Times New Roman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 Gujarati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gu-IN" b="1" dirty="0">
                <a:latin typeface="Times New Roman" pitchFamily="18" charset="0"/>
              </a:rPr>
              <a:t>ગુજરાતી)</a:t>
            </a:r>
            <a:endParaRPr lang="gu-IN" dirty="0">
              <a:latin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Language auto-detected from browser Accept-Language header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Users can manually switch language; preference saved in session and user profile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set_language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/&lt;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lang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&gt; route for language switching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1371600"/>
          <a:ext cx="6096000" cy="486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4343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model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purpose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Item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Core item record — name, description, status, location, image, timestamps, 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blockchain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hash, AI verification score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User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Student/admin accounts — registration no, password hash, role, XP, level, preferred language, privacy settings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ReportLog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Audit trail — who reported/deleted what and when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AuthLog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Auth audit — login/logout events with IP addresses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Message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Per-item chat messages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Notification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User alerts and notifications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Analytics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Daily aggregated analytics snapshots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81000" y="228600"/>
            <a:ext cx="484780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 Database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Design 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(Models)</a:t>
            </a:r>
          </a:p>
          <a:p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7400" y="381000"/>
            <a:ext cx="41103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 Non-Functional Features</a:t>
            </a:r>
          </a:p>
          <a:p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24000" y="1397000"/>
          <a:ext cx="6096000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267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features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Detail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Performance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SQLite WAL mode, foreign keys ON, lazy-loaded AI models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Reliability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Graceful error handling, 500/403 error pages, rollback on DB errors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Scalability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Designed for 5000+ students, 10,000+ items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Portability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Runs on Windows/Linux/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macOS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; SQLite → PostgreSQL migration-ready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Maintainability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3445-line app.py with full 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docstrings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modular functions, 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config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separation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590800"/>
            <a:ext cx="7467600" cy="1143000"/>
          </a:xfrm>
        </p:spPr>
        <p:txBody>
          <a:bodyPr/>
          <a:lstStyle/>
          <a:p>
            <a:pPr algn="ctr"/>
            <a:r>
              <a:rPr lang="en-US" b="1" dirty="0" smtClean="0"/>
              <a:t>Thank you </a:t>
            </a:r>
            <a:endParaRPr lang="en-US" b="1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95</TotalTime>
  <Words>438</Words>
  <Application>Microsoft Office PowerPoint</Application>
  <PresentationFormat>On-screen Show (4:3)</PresentationFormat>
  <Paragraphs>159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Oriel</vt:lpstr>
      <vt:lpstr>Lost and found portal</vt:lpstr>
      <vt:lpstr>Slide 2</vt:lpstr>
      <vt:lpstr>Slide 3</vt:lpstr>
      <vt:lpstr>Item reporting</vt:lpstr>
      <vt:lpstr>Slide 5</vt:lpstr>
      <vt:lpstr>Slide 6</vt:lpstr>
      <vt:lpstr>AI Features (The Standout Innovation) </vt:lpstr>
      <vt:lpstr>Slide 8</vt:lpstr>
      <vt:lpstr>Slide 9</vt:lpstr>
      <vt:lpstr>Slide 10</vt:lpstr>
      <vt:lpstr>Admin dashboard  &amp; Analytics </vt:lpstr>
      <vt:lpstr>Slide 12</vt:lpstr>
      <vt:lpstr>Secure Chat / Message System </vt:lpstr>
      <vt:lpstr>Notification System </vt:lpstr>
      <vt:lpstr>User Profile &amp; Gamification </vt:lpstr>
      <vt:lpstr>Multilingual Support </vt:lpstr>
      <vt:lpstr>Slide 17</vt:lpstr>
      <vt:lpstr>Slide 18</vt:lpstr>
      <vt:lpstr>Thank you 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DELL</cp:lastModifiedBy>
  <cp:revision>4</cp:revision>
  <dcterms:created xsi:type="dcterms:W3CDTF">2026-02-28T11:01:31Z</dcterms:created>
  <dcterms:modified xsi:type="dcterms:W3CDTF">2026-02-28T12:37:27Z</dcterms:modified>
</cp:coreProperties>
</file>